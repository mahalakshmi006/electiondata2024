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6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186CF-94EC-A761-F5F1-FD4B9B895B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38AA7F-8EBD-23D6-A73A-CE6AF2C706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6F35C-456F-DFB5-6671-15AD46CB1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7153F-4DEA-42C6-A7FE-55291E66E377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260197-F0A3-D759-1CB7-D373F6EC1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FD9F8-1210-0F02-27F7-07E13CA51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4DFB1-C2FE-48D6-A778-851E6E84F8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6334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2CE49-4BFF-579D-B550-D9FF4DC16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963F0-ACA4-6119-037A-F7BF515604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BC38E9-E5B6-D146-08D3-4A7B49912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7153F-4DEA-42C6-A7FE-55291E66E377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389416-F6CA-6FBB-D4EF-B9B2D2A2F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80D29A-8782-F308-7E2C-DD1031EF2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4DFB1-C2FE-48D6-A778-851E6E84F8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4380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3A84F-818A-077A-5ABD-EB61AFA9F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915934-F6DC-CF74-7320-493162E1D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92602D-B8DE-8AA0-193F-5DFAA8C17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7153F-4DEA-42C6-A7FE-55291E66E377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431495-7C27-94BF-67A0-20E25B0F9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BF4176-3B9B-9A4B-071A-D7577B80E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4DFB1-C2FE-48D6-A778-851E6E84F8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7143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6EE6B-08B7-9CA6-9C43-C5C16149A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B49969-7916-18B8-112B-86B53203E7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1B8763-7459-08DF-789A-E7BE800A7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09EF6E-3632-E105-5D69-6A881551F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7153F-4DEA-42C6-A7FE-55291E66E377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46D326-064A-26A9-EA1F-ABC378FDB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BBD994-11E2-218C-806A-EE09A81F0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4DFB1-C2FE-48D6-A778-851E6E84F8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9115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4BC5B-8ABA-B90C-FAB4-998629464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8482DC-0E25-7DA8-9497-3AA4C1A370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33CE8F-6492-7CC4-8FA0-6E8A98EC30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4CAD1-D0ED-FF7B-0EEA-397653FD4B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E7C4B4-C547-3E76-6646-AF308A409E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50F1D4-9A45-285A-4262-F674FEFEA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7153F-4DEA-42C6-A7FE-55291E66E377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12CCF3-A5D8-5B7A-7528-62B542CC4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FC70FF-A65D-088B-1398-E059A2EA2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4DFB1-C2FE-48D6-A778-851E6E84F8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8103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6D1C4-064E-1E95-EE40-333AA4953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A597D6-4FDA-E5B4-C082-3783669BD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7153F-4DEA-42C6-A7FE-55291E66E377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44A0E0-2219-BBBE-0AD8-183A3C1FF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CBA8EB-1813-AC84-F006-0C0492F69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4DFB1-C2FE-48D6-A778-851E6E84F8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2386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7515D1-231B-27AE-6BAE-DB925A59F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7153F-4DEA-42C6-A7FE-55291E66E377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09CBED-666F-11FE-5E29-1183424B3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5A2DBA-14E0-64F1-59C9-8C355B431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4DFB1-C2FE-48D6-A778-851E6E84F8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8162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D8156-5C60-892A-604E-95C1B63B1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DAAA3-B2BA-E8C6-71FA-CDD25AB574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4ADC29-28F8-C8C7-2E1D-CD6913D130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CC683E-FFF2-5B8D-CC9E-93613EC0E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7153F-4DEA-42C6-A7FE-55291E66E377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E9397F-86AD-6942-26A9-12A448A26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455CDD-099F-96A5-AE5B-8483CA373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4DFB1-C2FE-48D6-A778-851E6E84F8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6030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8A442-CBA6-CBA0-A093-A26162AC0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853A68-8ECE-B84C-8416-4EDF12CB81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BE5842-49D6-5984-75EE-CB7A25F2DA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39BBCB-2745-FF68-891D-0AE7592A9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7153F-4DEA-42C6-A7FE-55291E66E377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F6D48A-BF05-4A6C-4009-E50CD6E1C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51C3F0-FBDF-3598-A9F3-66065FC01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4DFB1-C2FE-48D6-A778-851E6E84F8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6284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FDE76-0E2A-DAEB-E0D2-0C9D5A2B0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FF54F3-72A8-E290-7FD3-4FB7E79672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2EDCE8-7314-7A29-D1C7-054D54A02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7153F-4DEA-42C6-A7FE-55291E66E377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74A6A9-D56F-BA74-35BA-F50B81464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2FF44B-174B-3F3C-8D05-6DA553F3F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4DFB1-C2FE-48D6-A778-851E6E84F8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2608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ADC3F1-0FC1-FEA2-F246-3A0DD58FFA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5F904C-B2D4-D4C5-AFEC-502D94876D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463CFE-4575-ACF9-5F31-79CE069F5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7153F-4DEA-42C6-A7FE-55291E66E377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9B42DB-E3D3-D1D9-7D5C-B93C5212D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3539D2-0B3A-43C0-6DDA-E7A87E0B5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4DFB1-C2FE-48D6-A778-851E6E84F8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5037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2FC360-EA32-DF7C-AB87-401637D5C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403724-CEF6-DAD8-B015-51EC1CBD71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4A7A3-5878-D32E-7822-08A3F8993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47153F-4DEA-42C6-A7FE-55291E66E377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541DB8-604E-B2E0-7FD7-9A2EBCAC4F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A6279-FEC4-D888-5269-CE95BAB33B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24DFB1-C2FE-48D6-A778-851E6E84F8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4182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31100FC-41AE-15FF-3AA2-DADA5AC4D835}"/>
              </a:ext>
            </a:extLst>
          </p:cNvPr>
          <p:cNvGraphicFramePr>
            <a:graphicFrameLocks noGrp="1"/>
          </p:cNvGraphicFramePr>
          <p:nvPr/>
        </p:nvGraphicFramePr>
        <p:xfrm>
          <a:off x="564550" y="4030967"/>
          <a:ext cx="1997493" cy="1658625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997493">
                  <a:extLst>
                    <a:ext uri="{9D8B030D-6E8A-4147-A177-3AD203B41FA5}">
                      <a16:colId xmlns:a16="http://schemas.microsoft.com/office/drawing/2014/main" val="3700960344"/>
                    </a:ext>
                  </a:extLst>
                </a:gridCol>
              </a:tblGrid>
              <a:tr h="20946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constituencywise_details</a:t>
                      </a:r>
                      <a:endParaRPr lang="en-IN" sz="1200" b="1" i="1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0429769"/>
                  </a:ext>
                </a:extLst>
              </a:tr>
              <a:tr h="209460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Candidate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15792806"/>
                  </a:ext>
                </a:extLst>
              </a:tr>
              <a:tr h="209460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Party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95237406"/>
                  </a:ext>
                </a:extLst>
              </a:tr>
              <a:tr h="209460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EVM Votes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22315658"/>
                  </a:ext>
                </a:extLst>
              </a:tr>
              <a:tr h="209460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Postal Votes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78684106"/>
                  </a:ext>
                </a:extLst>
              </a:tr>
              <a:tr h="209460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Total Votes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40078327"/>
                  </a:ext>
                </a:extLst>
              </a:tr>
              <a:tr h="209460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% of Votes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18003511"/>
                  </a:ext>
                </a:extLst>
              </a:tr>
              <a:tr h="189510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Constituency Number (FK)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797581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8BA5C23-54A4-1DE8-E7EF-CB20F2241AF3}"/>
              </a:ext>
            </a:extLst>
          </p:cNvPr>
          <p:cNvGraphicFramePr>
            <a:graphicFrameLocks noGrp="1"/>
          </p:cNvGraphicFramePr>
          <p:nvPr/>
        </p:nvGraphicFramePr>
        <p:xfrm>
          <a:off x="4368800" y="4019912"/>
          <a:ext cx="1997494" cy="1662744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1997494">
                  <a:extLst>
                    <a:ext uri="{9D8B030D-6E8A-4147-A177-3AD203B41FA5}">
                      <a16:colId xmlns:a16="http://schemas.microsoft.com/office/drawing/2014/main" val="3007124961"/>
                    </a:ext>
                  </a:extLst>
                </a:gridCol>
              </a:tblGrid>
              <a:tr h="207843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1" u="none" strike="noStrike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constituencywise</a:t>
                      </a:r>
                      <a:r>
                        <a:rPr lang="en-IN" sz="1200" b="1" i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_results</a:t>
                      </a:r>
                      <a:endParaRPr lang="en-IN" sz="1200" b="1" i="1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2810802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Parliament Constituency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333462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Constituency Name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95199771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Winning Candidate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41621470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Total Votes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3349065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Margin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37360296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Constituency ID (PK)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4451873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Party ID (FK)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686159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0013526-A28C-4C7A-D511-3128861040F6}"/>
              </a:ext>
            </a:extLst>
          </p:cNvPr>
          <p:cNvGraphicFramePr>
            <a:graphicFrameLocks noGrp="1"/>
          </p:cNvGraphicFramePr>
          <p:nvPr/>
        </p:nvGraphicFramePr>
        <p:xfrm>
          <a:off x="4580626" y="2104847"/>
          <a:ext cx="1440612" cy="847544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1440612">
                  <a:extLst>
                    <a:ext uri="{9D8B030D-6E8A-4147-A177-3AD203B41FA5}">
                      <a16:colId xmlns:a16="http://schemas.microsoft.com/office/drawing/2014/main" val="1798366723"/>
                    </a:ext>
                  </a:extLst>
                </a:gridCol>
              </a:tblGrid>
              <a:tr h="211886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partywise_results</a:t>
                      </a:r>
                      <a:endParaRPr lang="en-IN" sz="1200" b="1" i="1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3382202"/>
                  </a:ext>
                </a:extLst>
              </a:tr>
              <a:tr h="211886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Party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04992842"/>
                  </a:ext>
                </a:extLst>
              </a:tr>
              <a:tr h="211886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Won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16904002"/>
                  </a:ext>
                </a:extLst>
              </a:tr>
              <a:tr h="211886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Party ID (PK)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731994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2E83A1F-B549-96B3-6D0C-65B02B114669}"/>
              </a:ext>
            </a:extLst>
          </p:cNvPr>
          <p:cNvGraphicFramePr>
            <a:graphicFrameLocks noGrp="1"/>
          </p:cNvGraphicFramePr>
          <p:nvPr/>
        </p:nvGraphicFramePr>
        <p:xfrm>
          <a:off x="10007719" y="3133219"/>
          <a:ext cx="860485" cy="664231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860485">
                  <a:extLst>
                    <a:ext uri="{9D8B030D-6E8A-4147-A177-3AD203B41FA5}">
                      <a16:colId xmlns:a16="http://schemas.microsoft.com/office/drawing/2014/main" val="1662601645"/>
                    </a:ext>
                  </a:extLst>
                </a:gridCol>
              </a:tblGrid>
              <a:tr h="21934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States</a:t>
                      </a:r>
                      <a:endParaRPr lang="en-IN" sz="1200" b="1" i="1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609953"/>
                  </a:ext>
                </a:extLst>
              </a:tr>
              <a:tr h="219345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State ID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5131492"/>
                  </a:ext>
                </a:extLst>
              </a:tr>
              <a:tr h="225541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State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8930220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5482AE6-0392-144C-803A-A09CC1012521}"/>
              </a:ext>
            </a:extLst>
          </p:cNvPr>
          <p:cNvGraphicFramePr>
            <a:graphicFrameLocks noGrp="1"/>
          </p:cNvGraphicFramePr>
          <p:nvPr/>
        </p:nvGraphicFramePr>
        <p:xfrm>
          <a:off x="7674512" y="4075199"/>
          <a:ext cx="2168227" cy="2245872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2168227">
                  <a:extLst>
                    <a:ext uri="{9D8B030D-6E8A-4147-A177-3AD203B41FA5}">
                      <a16:colId xmlns:a16="http://schemas.microsoft.com/office/drawing/2014/main" val="3562918650"/>
                    </a:ext>
                  </a:extLst>
                </a:gridCol>
              </a:tblGrid>
              <a:tr h="207843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statewise_results</a:t>
                      </a:r>
                      <a:endParaRPr lang="en-IN" sz="1200" b="1" i="1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5649652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Constituency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80399147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Const. No.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83166327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Parliament Constituency </a:t>
                      </a:r>
                      <a:r>
                        <a:rPr lang="en-IN" sz="1200" u="none" strike="noStrike" dirty="0" err="1">
                          <a:effectLst/>
                        </a:rPr>
                        <a:t>Name_Number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0528841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Leading Candidate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93712411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Trailing Candidate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84604180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Margin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33010785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Status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68495430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State ID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4339285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State</a:t>
                      </a:r>
                      <a:endParaRPr lang="en-IN" sz="1200" u="none" strike="noStrike" dirty="0">
                        <a:effectLst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37196275"/>
                  </a:ext>
                </a:extLst>
              </a:tr>
            </a:tbl>
          </a:graphicData>
        </a:graphic>
      </p:graphicFrame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1F16BA0-B435-434E-4533-AC12B29B20B2}"/>
              </a:ext>
            </a:extLst>
          </p:cNvPr>
          <p:cNvCxnSpPr/>
          <p:nvPr/>
        </p:nvCxnSpPr>
        <p:spPr>
          <a:xfrm>
            <a:off x="5300932" y="2952391"/>
            <a:ext cx="0" cy="106752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1824DFB-D01E-F062-0C45-86097A97AC9B}"/>
              </a:ext>
            </a:extLst>
          </p:cNvPr>
          <p:cNvCxnSpPr>
            <a:cxnSpLocks/>
          </p:cNvCxnSpPr>
          <p:nvPr/>
        </p:nvCxnSpPr>
        <p:spPr>
          <a:xfrm>
            <a:off x="2562044" y="4855952"/>
            <a:ext cx="1806756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2A6C98C-ECB4-0720-8F89-161501802FC8}"/>
              </a:ext>
            </a:extLst>
          </p:cNvPr>
          <p:cNvCxnSpPr>
            <a:cxnSpLocks/>
          </p:cNvCxnSpPr>
          <p:nvPr/>
        </p:nvCxnSpPr>
        <p:spPr>
          <a:xfrm>
            <a:off x="6366294" y="4930722"/>
            <a:ext cx="1308219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963575A-9F66-31CC-610A-CCEB32947950}"/>
              </a:ext>
            </a:extLst>
          </p:cNvPr>
          <p:cNvCxnSpPr>
            <a:cxnSpLocks/>
          </p:cNvCxnSpPr>
          <p:nvPr/>
        </p:nvCxnSpPr>
        <p:spPr>
          <a:xfrm>
            <a:off x="9842739" y="5191665"/>
            <a:ext cx="595223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5D9B085-7D97-2511-FDC4-3FDF3BD2F6B1}"/>
              </a:ext>
            </a:extLst>
          </p:cNvPr>
          <p:cNvCxnSpPr>
            <a:cxnSpLocks/>
          </p:cNvCxnSpPr>
          <p:nvPr/>
        </p:nvCxnSpPr>
        <p:spPr>
          <a:xfrm>
            <a:off x="10437962" y="3806679"/>
            <a:ext cx="0" cy="1391456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13AB42A-D42E-4E0B-F968-4FA2EC8ACDE6}"/>
              </a:ext>
            </a:extLst>
          </p:cNvPr>
          <p:cNvSpPr txBox="1"/>
          <p:nvPr/>
        </p:nvSpPr>
        <p:spPr>
          <a:xfrm>
            <a:off x="2850066" y="4274203"/>
            <a:ext cx="1171277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50" b="1" u="none" strike="noStrike" dirty="0">
                <a:effectLst/>
              </a:rPr>
              <a:t>Constituency ID = </a:t>
            </a:r>
            <a:r>
              <a:rPr lang="en-IN" sz="1050" b="1" dirty="0"/>
              <a:t>Constituency Number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4064F27-5BCB-D7B4-EA36-D902790FE89C}"/>
              </a:ext>
            </a:extLst>
          </p:cNvPr>
          <p:cNvSpPr txBox="1"/>
          <p:nvPr/>
        </p:nvSpPr>
        <p:spPr>
          <a:xfrm>
            <a:off x="10414838" y="4453890"/>
            <a:ext cx="6515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50" b="1" u="none" strike="noStrike">
                <a:effectLst/>
              </a:defRPr>
            </a:lvl1pPr>
          </a:lstStyle>
          <a:p>
            <a:r>
              <a:rPr lang="en-IN" dirty="0"/>
              <a:t>State ID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8BFD8A5-E30B-31EB-7614-45AC70682565}"/>
              </a:ext>
            </a:extLst>
          </p:cNvPr>
          <p:cNvSpPr txBox="1"/>
          <p:nvPr/>
        </p:nvSpPr>
        <p:spPr>
          <a:xfrm>
            <a:off x="6469629" y="4954523"/>
            <a:ext cx="113006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50" b="1" u="none" strike="noStrike">
                <a:effectLst/>
              </a:defRPr>
            </a:lvl1pPr>
          </a:lstStyle>
          <a:p>
            <a:r>
              <a:rPr lang="en-IN" dirty="0"/>
              <a:t>Parliament Constituency =</a:t>
            </a:r>
            <a:br>
              <a:rPr lang="en-IN" dirty="0"/>
            </a:br>
            <a:r>
              <a:rPr lang="en-IN" dirty="0"/>
              <a:t>Parliament Constituency </a:t>
            </a:r>
            <a:r>
              <a:rPr lang="en-IN" dirty="0" err="1"/>
              <a:t>Name_Number</a:t>
            </a:r>
            <a:br>
              <a:rPr lang="en-IN" dirty="0"/>
            </a:br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60A4DAE-EDE0-EAF7-AFC2-6EFACCEA7161}"/>
              </a:ext>
            </a:extLst>
          </p:cNvPr>
          <p:cNvSpPr txBox="1"/>
          <p:nvPr/>
        </p:nvSpPr>
        <p:spPr>
          <a:xfrm>
            <a:off x="5285956" y="3334530"/>
            <a:ext cx="6515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50" b="1" u="none" strike="noStrike">
                <a:effectLst/>
              </a:defRPr>
            </a:lvl1pPr>
          </a:lstStyle>
          <a:p>
            <a:r>
              <a:rPr lang="en-IN" dirty="0"/>
              <a:t>Party ID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DCD4D04-EEDD-4743-053C-3B35EF14CEDF}"/>
              </a:ext>
            </a:extLst>
          </p:cNvPr>
          <p:cNvSpPr txBox="1"/>
          <p:nvPr/>
        </p:nvSpPr>
        <p:spPr>
          <a:xfrm>
            <a:off x="347870" y="1337032"/>
            <a:ext cx="7786838" cy="461665"/>
          </a:xfrm>
          <a:prstGeom prst="rect">
            <a:avLst/>
          </a:prstGeom>
          <a:noFill/>
          <a:ln w="28575"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ENTITY RELATIONSHIP DIAGRAM (ERD) / SCHEMA</a:t>
            </a:r>
            <a:endParaRPr lang="en-IN" sz="2400" b="1" dirty="0">
              <a:solidFill>
                <a:schemeClr val="accent6">
                  <a:lumMod val="5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349A462-F683-FF9E-2884-322C8E54AF6A}"/>
              </a:ext>
            </a:extLst>
          </p:cNvPr>
          <p:cNvSpPr txBox="1"/>
          <p:nvPr/>
        </p:nvSpPr>
        <p:spPr>
          <a:xfrm>
            <a:off x="0" y="-1714"/>
            <a:ext cx="12192000" cy="707886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FFFF00"/>
                </a:solidFill>
                <a:latin typeface="Arial Black" panose="020B0A04020102020204" pitchFamily="34" charset="0"/>
              </a:rPr>
              <a:t>DATA MODELING IN POWER BI</a:t>
            </a:r>
            <a:endParaRPr lang="en-IN" sz="4000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40FD9E43-5A4F-75F3-0772-11CD4F8CF4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2965" y="5920417"/>
            <a:ext cx="1077462" cy="1077462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BB6FA16B-62E9-1BC6-58F1-59C770CA1FA9}"/>
              </a:ext>
            </a:extLst>
          </p:cNvPr>
          <p:cNvSpPr txBox="1"/>
          <p:nvPr/>
        </p:nvSpPr>
        <p:spPr>
          <a:xfrm>
            <a:off x="225931" y="6484130"/>
            <a:ext cx="61109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highlight>
                  <a:srgbClr val="FFFF00"/>
                </a:highlight>
                <a:latin typeface="Bahnschrift SemiBold" panose="020B0502040204020203" pitchFamily="34" charset="0"/>
              </a:rPr>
              <a:t>DESIGNED &amp; DEVELOPED BY </a:t>
            </a:r>
            <a:r>
              <a:rPr lang="en-US" sz="1600" b="1" dirty="0">
                <a:solidFill>
                  <a:srgbClr val="C00000"/>
                </a:solidFill>
                <a:highlight>
                  <a:srgbClr val="FFFF00"/>
                </a:highlight>
                <a:latin typeface="Bahnschrift SemiBold" panose="020B0502040204020203" pitchFamily="34" charset="0"/>
              </a:rPr>
              <a:t>– SWAPNJEET S (DATA TUTORIALS)</a:t>
            </a:r>
            <a:endParaRPr lang="en-IN" sz="1600" b="1" dirty="0">
              <a:solidFill>
                <a:srgbClr val="C00000"/>
              </a:solidFill>
              <a:highlight>
                <a:srgbClr val="FFFF00"/>
              </a:highlight>
              <a:latin typeface="Bahnschrift SemiBold" panose="020B0502040204020203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56ED3E7-5D75-8B13-5431-49CF2DE9437F}"/>
              </a:ext>
            </a:extLst>
          </p:cNvPr>
          <p:cNvSpPr/>
          <p:nvPr/>
        </p:nvSpPr>
        <p:spPr>
          <a:xfrm>
            <a:off x="347870" y="1930448"/>
            <a:ext cx="10875095" cy="4528710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66B2E6-A2B6-C6DA-9CEF-BE3B04956DDA}"/>
              </a:ext>
            </a:extLst>
          </p:cNvPr>
          <p:cNvSpPr txBox="1"/>
          <p:nvPr/>
        </p:nvSpPr>
        <p:spPr>
          <a:xfrm>
            <a:off x="1106621" y="736736"/>
            <a:ext cx="104605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>
                <a:solidFill>
                  <a:schemeClr val="accent2">
                    <a:lumMod val="75000"/>
                  </a:schemeClr>
                </a:solidFill>
                <a:latin typeface="Copperplate Gothic Bold" panose="020E0705020206020404" pitchFamily="34" charset="0"/>
              </a:rPr>
              <a:t>INDIA </a:t>
            </a:r>
            <a:r>
              <a:rPr lang="en-IN" sz="2800" b="1" dirty="0">
                <a:solidFill>
                  <a:schemeClr val="accent1">
                    <a:lumMod val="75000"/>
                  </a:schemeClr>
                </a:solidFill>
                <a:latin typeface="Copperplate Gothic Bold" panose="020E0705020206020404" pitchFamily="34" charset="0"/>
              </a:rPr>
              <a:t>GENERAL ELECTION </a:t>
            </a:r>
            <a:r>
              <a:rPr lang="en-IN" sz="2800" b="1" dirty="0">
                <a:solidFill>
                  <a:schemeClr val="accent6">
                    <a:lumMod val="75000"/>
                  </a:schemeClr>
                </a:solidFill>
                <a:latin typeface="Copperplate Gothic Bold" panose="020E0705020206020404" pitchFamily="34" charset="0"/>
              </a:rPr>
              <a:t>RESULT ANALYSIS </a:t>
            </a:r>
            <a:r>
              <a:rPr lang="en-IN" sz="2800" b="1" dirty="0">
                <a:solidFill>
                  <a:schemeClr val="tx2">
                    <a:lumMod val="50000"/>
                  </a:schemeClr>
                </a:solidFill>
                <a:latin typeface="Copperplate Gothic Bold" panose="020E0705020206020404" pitchFamily="34" charset="0"/>
              </a:rPr>
              <a:t>2024</a:t>
            </a:r>
          </a:p>
        </p:txBody>
      </p:sp>
    </p:spTree>
    <p:extLst>
      <p:ext uri="{BB962C8B-B14F-4D97-AF65-F5344CB8AC3E}">
        <p14:creationId xmlns:p14="http://schemas.microsoft.com/office/powerpoint/2010/main" val="3953662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CF6D219-48A7-48D5-0D5B-E5BD4FE162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2695"/>
            <a:ext cx="12192000" cy="6612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195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9750E1D-38BF-0BDF-4BAC-F666A28AF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242" y="358816"/>
            <a:ext cx="11187515" cy="6140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872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F66645F-3853-25FF-6711-3B5EA869E0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864" y="141126"/>
            <a:ext cx="12036136" cy="6575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5541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126</Words>
  <Application>Microsoft Office PowerPoint</Application>
  <PresentationFormat>Widescreen</PresentationFormat>
  <Paragraphs>41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Arial</vt:lpstr>
      <vt:lpstr>Arial Black</vt:lpstr>
      <vt:lpstr>Arial Rounded MT Bold</vt:lpstr>
      <vt:lpstr>Bahnschrift SemiBold</vt:lpstr>
      <vt:lpstr>Calibri</vt:lpstr>
      <vt:lpstr>Calibri Light</vt:lpstr>
      <vt:lpstr>Copperplate Gothic Bold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maha lakshmi</dc:creator>
  <cp:lastModifiedBy>maha lakshmi</cp:lastModifiedBy>
  <cp:revision>2</cp:revision>
  <dcterms:created xsi:type="dcterms:W3CDTF">2026-03-17T16:02:22Z</dcterms:created>
  <dcterms:modified xsi:type="dcterms:W3CDTF">2026-03-18T06:21:45Z</dcterms:modified>
</cp:coreProperties>
</file>